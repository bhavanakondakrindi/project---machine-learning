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Medium" charset="1" panose="00000600000000000000"/>
      <p:regular r:id="rId16"/>
    </p:embeddedFont>
    <p:embeddedFont>
      <p:font typeface="Canva Sans" charset="1" panose="020B0503030501040103"/>
      <p:regular r:id="rId17"/>
    </p:embeddedFont>
    <p:embeddedFont>
      <p:font typeface="Poppins" charset="1" panose="000005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807048" y="3224854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1482374" y="8049510"/>
            <a:ext cx="6673904" cy="5120778"/>
            <a:chOff x="0" y="0"/>
            <a:chExt cx="812800" cy="623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04880" y="3097531"/>
            <a:ext cx="10053519" cy="337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5"/>
              </a:lnSpc>
            </a:pPr>
            <a:r>
              <a:rPr lang="en-US" sz="8157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Traffic Flow </a:t>
            </a:r>
            <a:r>
              <a:rPr lang="en-US" sz="8157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Visualization Using PCA and t-SNE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46728" y="6371481"/>
            <a:ext cx="2703606" cy="428772"/>
            <a:chOff x="0" y="0"/>
            <a:chExt cx="712061" cy="112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2061" cy="112928"/>
            </a:xfrm>
            <a:custGeom>
              <a:avLst/>
              <a:gdLst/>
              <a:ahLst/>
              <a:cxnLst/>
              <a:rect r="r" b="b" t="t" l="l"/>
              <a:pathLst>
                <a:path h="112928" w="712061">
                  <a:moveTo>
                    <a:pt x="0" y="0"/>
                  </a:moveTo>
                  <a:lnTo>
                    <a:pt x="712061" y="0"/>
                  </a:lnTo>
                  <a:lnTo>
                    <a:pt x="712061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D9363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12061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7100" y="4426191"/>
            <a:ext cx="2897780" cy="459567"/>
            <a:chOff x="0" y="0"/>
            <a:chExt cx="712061" cy="112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2061" cy="112928"/>
            </a:xfrm>
            <a:custGeom>
              <a:avLst/>
              <a:gdLst/>
              <a:ahLst/>
              <a:cxnLst/>
              <a:rect r="r" b="b" t="t" l="l"/>
              <a:pathLst>
                <a:path h="112928" w="712061">
                  <a:moveTo>
                    <a:pt x="0" y="0"/>
                  </a:moveTo>
                  <a:lnTo>
                    <a:pt x="712061" y="0"/>
                  </a:lnTo>
                  <a:lnTo>
                    <a:pt x="712061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D9363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12061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9134475" y="-133350"/>
            <a:ext cx="0" cy="2395726"/>
          </a:xfrm>
          <a:prstGeom prst="line">
            <a:avLst/>
          </a:prstGeom>
          <a:ln cap="flat" w="28575">
            <a:solidFill>
              <a:srgbClr val="C4CB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646728" y="7402650"/>
            <a:ext cx="5510492" cy="252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075">
                <a:solidFill>
                  <a:srgbClr val="2B536E"/>
                </a:solidFill>
                <a:latin typeface="Canva Sans"/>
                <a:ea typeface="Canva Sans"/>
                <a:cs typeface="Canva Sans"/>
                <a:sym typeface="Canva Sans"/>
              </a:rPr>
              <a:t>2520030082 Bhavana Kondakrindi</a:t>
            </a:r>
          </a:p>
          <a:p>
            <a:pPr algn="l">
              <a:lnSpc>
                <a:spcPts val="2905"/>
              </a:lnSpc>
            </a:pPr>
            <a:r>
              <a:rPr lang="en-US" sz="2075">
                <a:solidFill>
                  <a:srgbClr val="2B536E"/>
                </a:solidFill>
                <a:latin typeface="Canva Sans"/>
                <a:ea typeface="Canva Sans"/>
                <a:cs typeface="Canva Sans"/>
                <a:sym typeface="Canva Sans"/>
              </a:rPr>
              <a:t>2520030103 K.Poojitha Sai</a:t>
            </a:r>
          </a:p>
          <a:p>
            <a:pPr algn="l">
              <a:lnSpc>
                <a:spcPts val="2905"/>
              </a:lnSpc>
            </a:pPr>
          </a:p>
          <a:p>
            <a:pPr algn="l">
              <a:lnSpc>
                <a:spcPts val="2905"/>
              </a:lnSpc>
            </a:pPr>
            <a:r>
              <a:rPr lang="en-US" sz="2075">
                <a:solidFill>
                  <a:srgbClr val="2B536E"/>
                </a:solidFill>
                <a:latin typeface="Canva Sans"/>
                <a:ea typeface="Canva Sans"/>
                <a:cs typeface="Canva Sans"/>
                <a:sym typeface="Canva Sans"/>
              </a:rPr>
              <a:t>Under the Esteemed guidance of </a:t>
            </a:r>
          </a:p>
          <a:p>
            <a:pPr algn="l">
              <a:lnSpc>
                <a:spcPts val="2905"/>
              </a:lnSpc>
            </a:pPr>
            <a:r>
              <a:rPr lang="en-US" sz="2075">
                <a:solidFill>
                  <a:srgbClr val="2B536E"/>
                </a:solidFill>
                <a:latin typeface="Canva Sans"/>
                <a:ea typeface="Canva Sans"/>
                <a:cs typeface="Canva Sans"/>
                <a:sym typeface="Canva Sans"/>
              </a:rPr>
              <a:t>Shaik Asif </a:t>
            </a:r>
          </a:p>
          <a:p>
            <a:pPr algn="l">
              <a:lnSpc>
                <a:spcPts val="2905"/>
              </a:lnSpc>
            </a:pPr>
            <a:r>
              <a:rPr lang="en-US" sz="2075">
                <a:solidFill>
                  <a:srgbClr val="2B536E"/>
                </a:solidFill>
                <a:latin typeface="Canva Sans"/>
                <a:ea typeface="Canva Sans"/>
                <a:cs typeface="Canva Sans"/>
                <a:sym typeface="Canva Sans"/>
              </a:rPr>
              <a:t> Assistant Professor, CSE</a:t>
            </a:r>
          </a:p>
          <a:p>
            <a:pPr algn="l">
              <a:lnSpc>
                <a:spcPts val="290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5682" y="1155346"/>
            <a:ext cx="7605485" cy="143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9"/>
              </a:lnSpc>
            </a:pPr>
            <a:r>
              <a:rPr lang="en-US" sz="9723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Abstract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7233" y="1668809"/>
            <a:ext cx="1252737" cy="263775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55283" y="2495736"/>
            <a:ext cx="1480837" cy="263775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4172009"/>
            <a:ext cx="15893290" cy="508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5"/>
              </a:lnSpc>
            </a:pPr>
            <a:r>
              <a:rPr lang="en-US" sz="2911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911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raffic congestion is a major challenge in modern transportation systems, resulting in increased travel time, fuel consumption, pollution, and economic losses. Traffic-flow datasets contain multiple features such as speed, density, flow, occupancy, waiting time, and other traffic-related parameters, making them difficult to visualize directly. This project applies Principal Component Analysis (PCA) and t-Distributed Stochastic Neighbor Embedding (t-SNE) to reduce the dimensionality of traffic-flow data and visualize hidden patterns. PCA provides a compact linear representation, while t-SNE preserves local relationships and helps reveal clusters. The visualizations are used to analyze different traffic states and identify congestion patterns.</a:t>
            </a:r>
          </a:p>
          <a:p>
            <a:pPr algn="l">
              <a:lnSpc>
                <a:spcPts val="4075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-10800000">
            <a:off x="8899948" y="707390"/>
            <a:ext cx="3193585" cy="2450386"/>
            <a:chOff x="0" y="0"/>
            <a:chExt cx="812800" cy="623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3121" y="1489398"/>
            <a:ext cx="592379" cy="59237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363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5682" y="1155346"/>
            <a:ext cx="7605485" cy="143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9"/>
              </a:lnSpc>
            </a:pPr>
            <a:r>
              <a:rPr lang="en-US" sz="9723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</a:t>
            </a:r>
            <a:r>
              <a:rPr lang="en-US" sz="9723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roduction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7233" y="1668809"/>
            <a:ext cx="1252737" cy="263775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55283" y="2495736"/>
            <a:ext cx="1480837" cy="263775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25671" y="3678777"/>
            <a:ext cx="17390993" cy="592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raffic congestion is one of the major problems in urban transportation.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Increasing vehicle numbers lead to longer travel time, fuel consumption, pollution, and economic losses.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Modern t</a:t>
            </a: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raffic datasets contain many variables such as: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Vehicle Speed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Traffic Density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Traffic Flow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Occupancy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Waiting Time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Queue Length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High-dimensional traffic data is difficult to understand using conventional visualization.</a:t>
            </a:r>
          </a:p>
          <a:p>
            <a:pPr algn="l" marL="556927" indent="-27846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Dimensionality reduction helps transform complex data into a simpler visual representation.</a:t>
            </a:r>
          </a:p>
          <a:p>
            <a:pPr algn="l" marL="556927" indent="-278463" lvl="1">
              <a:lnSpc>
                <a:spcPts val="3611"/>
              </a:lnSpc>
              <a:spcBef>
                <a:spcPct val="0"/>
              </a:spcBef>
              <a:buFont typeface="Arial"/>
              <a:buChar char="•"/>
            </a:pPr>
            <a:r>
              <a:rPr lang="en-US" sz="2579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This project uses PCA and t-SNE to visualize traffic patterns and congestion states.</a:t>
            </a:r>
          </a:p>
        </p:txBody>
      </p:sp>
      <p:grpSp>
        <p:nvGrpSpPr>
          <p:cNvPr name="Group 14" id="14"/>
          <p:cNvGrpSpPr/>
          <p:nvPr/>
        </p:nvGrpSpPr>
        <p:grpSpPr>
          <a:xfrm rot="-10800000">
            <a:off x="8899948" y="707390"/>
            <a:ext cx="3193585" cy="2450386"/>
            <a:chOff x="0" y="0"/>
            <a:chExt cx="812800" cy="623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3121" y="1489398"/>
            <a:ext cx="592379" cy="59237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363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5682" y="898811"/>
            <a:ext cx="10206824" cy="143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9"/>
              </a:lnSpc>
            </a:pPr>
            <a:r>
              <a:rPr lang="en-US" sz="9723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Existing System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7233" y="1542418"/>
            <a:ext cx="1252737" cy="263775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41670" y="2068043"/>
            <a:ext cx="1480837" cy="263775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72529" y="3269202"/>
            <a:ext cx="15649461" cy="563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Tradi</a:t>
            </a: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tional traffic-state analysis generally relies on: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Individual traffic indicators such as speed, flow, density, and occupancy.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Statistical analysis and conventional visualization.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Clustering techniques for identifying traffic states.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Direct analysis of high-dimensional traffic features.</a:t>
            </a:r>
          </a:p>
          <a:p>
            <a:pPr algn="l">
              <a:lnSpc>
                <a:spcPts val="3759"/>
              </a:lnSpc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Difficult to visualize many features simultaneously.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Redundant/correlated traffic features can increase complexity.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Conventional clustering can become difficult with high-dimensional data.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Nonlinear relationships between traffic features may not be clearly visible.</a:t>
            </a:r>
          </a:p>
          <a:p>
            <a:pPr algn="l" marL="579728" indent="-289864" lvl="1">
              <a:lnSpc>
                <a:spcPts val="3759"/>
              </a:lnSpc>
              <a:buFont typeface="Arial"/>
              <a:buChar char="•"/>
            </a:pPr>
            <a:r>
              <a:rPr lang="en-US" sz="268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Hidden traffic patterns may be difficult to identify.</a:t>
            </a:r>
          </a:p>
          <a:p>
            <a:pPr algn="l">
              <a:lnSpc>
                <a:spcPts val="3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25720" y="2856962"/>
            <a:ext cx="8062280" cy="1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1"/>
              </a:lnSpc>
            </a:pPr>
            <a:r>
              <a:rPr lang="en-US" sz="6915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Proposed System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44889" y="3310492"/>
            <a:ext cx="890993" cy="187606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34775" y="3684336"/>
            <a:ext cx="1053225" cy="187606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0993" y="723679"/>
            <a:ext cx="16998307" cy="938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Our</a:t>
            </a: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proposed system uses PCA and t-SNE to visualize high-dimensional traffic-flow data.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ocess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Tra</a:t>
            </a: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ffic Dataset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EDA &amp; F</a:t>
            </a: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eature Analysis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Feature Standardization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PCA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2D PCA Visualization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t-SNE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2D t-S</a:t>
            </a: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NE Visualization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Compare Results</a:t>
            </a:r>
          </a:p>
          <a:p>
            <a:pPr algn="l">
              <a:lnSpc>
                <a:spcPts val="3577"/>
              </a:lnSpc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↓</a:t>
            </a:r>
          </a:p>
          <a:p>
            <a:pPr algn="l">
              <a:lnSpc>
                <a:spcPts val="3577"/>
              </a:lnSpc>
              <a:spcBef>
                <a:spcPct val="0"/>
              </a:spcBef>
            </a:pP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555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dentify Traffic Patterns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37488" y="4237559"/>
            <a:ext cx="11919631" cy="240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29"/>
              </a:lnSpc>
            </a:pPr>
            <a:r>
              <a:rPr lang="en-US" sz="2735" b="true">
                <a:solidFill>
                  <a:srgbClr val="2B536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Objective</a:t>
            </a:r>
          </a:p>
          <a:p>
            <a:pPr algn="r">
              <a:lnSpc>
                <a:spcPts val="3829"/>
              </a:lnSpc>
            </a:pPr>
            <a:r>
              <a:rPr lang="en-US" sz="2735">
                <a:solidFill>
                  <a:srgbClr val="2B536E"/>
                </a:solidFill>
                <a:latin typeface="Canva Sans"/>
                <a:ea typeface="Canva Sans"/>
                <a:cs typeface="Canva Sans"/>
                <a:sym typeface="Canva Sans"/>
              </a:rPr>
              <a:t>To</a:t>
            </a:r>
            <a:r>
              <a:rPr lang="en-US" sz="2735">
                <a:solidFill>
                  <a:srgbClr val="2B536E"/>
                </a:solidFill>
                <a:latin typeface="Canva Sans"/>
                <a:ea typeface="Canva Sans"/>
                <a:cs typeface="Canva Sans"/>
                <a:sym typeface="Canva Sans"/>
              </a:rPr>
              <a:t> transform complex traffic-flow data into meaningful 2D visualizations and identify patterns associated with different traffic conditions.</a:t>
            </a:r>
          </a:p>
          <a:p>
            <a:pPr algn="ctr">
              <a:lnSpc>
                <a:spcPts val="38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37724" y="2768882"/>
            <a:ext cx="8207791" cy="143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9"/>
              </a:lnSpc>
            </a:pPr>
            <a:r>
              <a:rPr lang="en-US" sz="9723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FLOW CHART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84987" y="3345402"/>
            <a:ext cx="1252737" cy="263775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598184" y="4771312"/>
            <a:ext cx="1480837" cy="263775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51621" y="1626030"/>
            <a:ext cx="592379" cy="59237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363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70453" y="2357323"/>
            <a:ext cx="181167" cy="18116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363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48815" y="251668"/>
            <a:ext cx="4590826" cy="9783664"/>
          </a:xfrm>
          <a:custGeom>
            <a:avLst/>
            <a:gdLst/>
            <a:ahLst/>
            <a:cxnLst/>
            <a:rect r="r" b="b" t="t" l="l"/>
            <a:pathLst>
              <a:path h="9783664" w="4590826">
                <a:moveTo>
                  <a:pt x="0" y="0"/>
                </a:moveTo>
                <a:lnTo>
                  <a:pt x="4590825" y="0"/>
                </a:lnTo>
                <a:lnTo>
                  <a:pt x="4590825" y="9783664"/>
                </a:lnTo>
                <a:lnTo>
                  <a:pt x="0" y="9783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17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84056" y="372567"/>
            <a:ext cx="4446392" cy="875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2"/>
              </a:lnSpc>
            </a:pPr>
            <a:r>
              <a:rPr lang="en-US" sz="5935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ALGORITHM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82629" y="715383"/>
            <a:ext cx="764684" cy="161011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22299" y="1142278"/>
            <a:ext cx="1184643" cy="211015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92744" y="2851202"/>
            <a:ext cx="7972227" cy="640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A.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PCA — Principal Component Analysis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Load the traffic dataset.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Select numerical features.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Standardize the features.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Calcul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ate the covariance structure.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Determine principal components.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Select the required components.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Transform the data into lower dimensions.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Visualiz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e the first two components.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Pu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rpose:</a:t>
            </a:r>
          </a:p>
          <a:p>
            <a:pPr algn="l">
              <a:lnSpc>
                <a:spcPts val="3942"/>
              </a:lnSpc>
              <a:spcBef>
                <a:spcPct val="0"/>
              </a:spcBef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Reduce high-dimensional data while retaining maximum variance.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6993" y="2851202"/>
            <a:ext cx="7972227" cy="640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B.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t-SNE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Load standardized traffic features.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Calcul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ate similarities between data points.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Pres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erve local relationships.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ap the data into a lower-dimensional space.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Generate a 2D v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isualization.</a:t>
            </a:r>
          </a:p>
          <a:p>
            <a:pPr algn="l" marL="607996" indent="-303998" lvl="1">
              <a:lnSpc>
                <a:spcPts val="3942"/>
              </a:lnSpc>
              <a:buAutoNum type="arabicPeriod" startAt="1"/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Analyz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e the resulting clusters/patterns.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Pu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rpose:</a:t>
            </a:r>
          </a:p>
          <a:p>
            <a:pPr algn="l">
              <a:lnSpc>
                <a:spcPts val="3942"/>
              </a:lnSpc>
              <a:spcBef>
                <a:spcPct val="0"/>
              </a:spcBef>
            </a:pP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1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Reveal nonlinear relationships and local structures in high-dimensional data.</a:t>
            </a:r>
          </a:p>
          <a:p>
            <a:pPr algn="l">
              <a:lnSpc>
                <a:spcPts val="39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75003" y="214504"/>
            <a:ext cx="4552340" cy="170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0"/>
              </a:lnSpc>
            </a:pPr>
            <a:r>
              <a:rPr lang="en-US" sz="6076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EXPECTED OUTPUT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35447" y="533905"/>
            <a:ext cx="782905" cy="164847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55323" y="1704782"/>
            <a:ext cx="1212871" cy="216043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8160370" y="3955002"/>
          <a:ext cx="16230600" cy="7254384"/>
        </p:xfrm>
        <a:graphic>
          <a:graphicData uri="http://schemas.openxmlformats.org/presentationml/2006/ole">
            <p:oleObj imgW="19469100" imgH="10490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028700" y="2421137"/>
            <a:ext cx="7306747" cy="715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1. PCA Visualiza</a:t>
            </a: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tion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 2D scatter plot showing traffic observations according to their principal components.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2. t-SNE Visualization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 2D </a:t>
            </a: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scatter plot showing local relationships and possible traffic clusters.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3. Traffic Patterns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Id</a:t>
            </a: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entify patterns corresponding to: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🟢 Free-flow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🟡 Moderate</a:t>
            </a:r>
          </a:p>
          <a:p>
            <a:pPr algn="l">
              <a:lnSpc>
                <a:spcPts val="4096"/>
              </a:lnSpc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🟠 He</a:t>
            </a: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avy</a:t>
            </a:r>
          </a:p>
          <a:p>
            <a:pPr algn="l">
              <a:lnSpc>
                <a:spcPts val="4096"/>
              </a:lnSpc>
              <a:spcBef>
                <a:spcPct val="0"/>
              </a:spcBef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 🔴 Gridlock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60370" y="2854275"/>
            <a:ext cx="7306747" cy="51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  <a:spcBef>
                <a:spcPct val="0"/>
              </a:spcBef>
            </a:pP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4. C</a:t>
            </a: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omparative </a:t>
            </a: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926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6662" y="2438020"/>
            <a:ext cx="12514677" cy="143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9"/>
              </a:lnSpc>
            </a:pPr>
            <a:r>
              <a:rPr lang="en-US" sz="9723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42920" y="2390395"/>
            <a:ext cx="1252737" cy="263775"/>
            <a:chOff x="0" y="0"/>
            <a:chExt cx="536324" cy="112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324" cy="112928"/>
            </a:xfrm>
            <a:custGeom>
              <a:avLst/>
              <a:gdLst/>
              <a:ahLst/>
              <a:cxnLst/>
              <a:rect r="r" b="b" t="t" l="l"/>
              <a:pathLst>
                <a:path h="112928" w="536324">
                  <a:moveTo>
                    <a:pt x="0" y="0"/>
                  </a:moveTo>
                  <a:lnTo>
                    <a:pt x="536324" y="0"/>
                  </a:lnTo>
                  <a:lnTo>
                    <a:pt x="536324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36324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869602" y="4440451"/>
            <a:ext cx="1480837" cy="263775"/>
            <a:chOff x="0" y="0"/>
            <a:chExt cx="633979" cy="112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79" cy="112928"/>
            </a:xfrm>
            <a:custGeom>
              <a:avLst/>
              <a:gdLst/>
              <a:ahLst/>
              <a:cxnLst/>
              <a:rect r="r" b="b" t="t" l="l"/>
              <a:pathLst>
                <a:path h="112928" w="633979">
                  <a:moveTo>
                    <a:pt x="0" y="0"/>
                  </a:moveTo>
                  <a:lnTo>
                    <a:pt x="633979" y="0"/>
                  </a:lnTo>
                  <a:lnTo>
                    <a:pt x="633979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33979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40293" y="5180475"/>
            <a:ext cx="15778927" cy="234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8"/>
              </a:lnSpc>
              <a:spcBef>
                <a:spcPct val="0"/>
              </a:spcBef>
            </a:pPr>
            <a:r>
              <a:rPr lang="en-US" sz="3320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PCA pr</a:t>
            </a:r>
            <a:r>
              <a:rPr lang="en-US" sz="3320">
                <a:solidFill>
                  <a:srgbClr val="2B536E"/>
                </a:solidFill>
                <a:latin typeface="Poppins"/>
                <a:ea typeface="Poppins"/>
                <a:cs typeface="Poppins"/>
                <a:sym typeface="Poppins"/>
              </a:rPr>
              <a:t>ovides an efficient low-dimensional representation of traffic-flow data, while t-SNE provides a detailed visualization of local traffic clusters. Together, the methods help reveal relationships between different traffic states and provide meaningful visual insights into congestion patterns.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807048" y="3224854"/>
            <a:ext cx="6673904" cy="5120778"/>
            <a:chOff x="0" y="0"/>
            <a:chExt cx="812800" cy="62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1482374" y="8049510"/>
            <a:ext cx="6673904" cy="5120778"/>
            <a:chOff x="0" y="0"/>
            <a:chExt cx="812800" cy="623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864125">
            <a:off x="14310834" y="-3130173"/>
            <a:ext cx="6673904" cy="5120778"/>
            <a:chOff x="0" y="0"/>
            <a:chExt cx="812800" cy="623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23648"/>
            </a:xfrm>
            <a:custGeom>
              <a:avLst/>
              <a:gdLst/>
              <a:ahLst/>
              <a:cxnLst/>
              <a:rect r="r" b="b" t="t" l="l"/>
              <a:pathLst>
                <a:path h="623648" w="812800">
                  <a:moveTo>
                    <a:pt x="406400" y="0"/>
                  </a:moveTo>
                  <a:lnTo>
                    <a:pt x="812800" y="623648"/>
                  </a:lnTo>
                  <a:lnTo>
                    <a:pt x="0" y="623648"/>
                  </a:lnTo>
                  <a:lnTo>
                    <a:pt x="406400" y="0"/>
                  </a:lnTo>
                  <a:close/>
                </a:path>
              </a:pathLst>
            </a:custGeom>
            <a:ln w="57150" cap="sq">
              <a:solidFill>
                <a:srgbClr val="C4CBD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232401"/>
              <a:ext cx="558800" cy="346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21449" y="3451008"/>
            <a:ext cx="7150398" cy="249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7"/>
              </a:lnSpc>
            </a:pPr>
            <a:r>
              <a:rPr lang="en-US" sz="16940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64824" y="5309032"/>
            <a:ext cx="4641362" cy="249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7"/>
              </a:lnSpc>
            </a:pPr>
            <a:r>
              <a:rPr lang="en-US" sz="16940" b="true">
                <a:solidFill>
                  <a:srgbClr val="2B53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You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90492" y="7589071"/>
            <a:ext cx="2703606" cy="428772"/>
            <a:chOff x="0" y="0"/>
            <a:chExt cx="712061" cy="112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061" cy="112928"/>
            </a:xfrm>
            <a:custGeom>
              <a:avLst/>
              <a:gdLst/>
              <a:ahLst/>
              <a:cxnLst/>
              <a:rect r="r" b="b" t="t" l="l"/>
              <a:pathLst>
                <a:path h="112928" w="712061">
                  <a:moveTo>
                    <a:pt x="0" y="0"/>
                  </a:moveTo>
                  <a:lnTo>
                    <a:pt x="712061" y="0"/>
                  </a:lnTo>
                  <a:lnTo>
                    <a:pt x="712061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12061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3669" y="4425575"/>
            <a:ext cx="2897780" cy="459567"/>
            <a:chOff x="0" y="0"/>
            <a:chExt cx="712061" cy="112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061" cy="112928"/>
            </a:xfrm>
            <a:custGeom>
              <a:avLst/>
              <a:gdLst/>
              <a:ahLst/>
              <a:cxnLst/>
              <a:rect r="r" b="b" t="t" l="l"/>
              <a:pathLst>
                <a:path h="112928" w="712061">
                  <a:moveTo>
                    <a:pt x="0" y="0"/>
                  </a:moveTo>
                  <a:lnTo>
                    <a:pt x="712061" y="0"/>
                  </a:lnTo>
                  <a:lnTo>
                    <a:pt x="712061" y="112928"/>
                  </a:lnTo>
                  <a:lnTo>
                    <a:pt x="0" y="112928"/>
                  </a:lnTo>
                  <a:close/>
                </a:path>
              </a:pathLst>
            </a:custGeom>
            <a:solidFill>
              <a:srgbClr val="C4CBD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12061" cy="17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9134475" y="-133350"/>
            <a:ext cx="0" cy="2395726"/>
          </a:xfrm>
          <a:prstGeom prst="line">
            <a:avLst/>
          </a:prstGeom>
          <a:ln cap="flat" w="28575">
            <a:solidFill>
              <a:srgbClr val="C4CB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6921990" y="1013931"/>
            <a:ext cx="394460" cy="78892"/>
          </a:xfrm>
          <a:custGeom>
            <a:avLst/>
            <a:gdLst/>
            <a:ahLst/>
            <a:cxnLst/>
            <a:rect r="r" b="b" t="t" l="l"/>
            <a:pathLst>
              <a:path h="78892" w="394460">
                <a:moveTo>
                  <a:pt x="0" y="0"/>
                </a:moveTo>
                <a:lnTo>
                  <a:pt x="394460" y="0"/>
                </a:lnTo>
                <a:lnTo>
                  <a:pt x="394460" y="78892"/>
                </a:lnTo>
                <a:lnTo>
                  <a:pt x="0" y="7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DAHTNf76wcI</dc:identifier>
  <dcterms:modified xsi:type="dcterms:W3CDTF">2011-08-01T06:04:30Z</dcterms:modified>
  <cp:revision>1</cp:revision>
  <dc:title>ML Presentation</dc:title>
</cp:coreProperties>
</file>